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0" r:id="rId5"/>
    <p:sldId id="259" r:id="rId6"/>
    <p:sldId id="260" r:id="rId7"/>
    <p:sldId id="271" r:id="rId8"/>
    <p:sldId id="261" r:id="rId9"/>
    <p:sldId id="262" r:id="rId10"/>
    <p:sldId id="263" r:id="rId11"/>
    <p:sldId id="264" r:id="rId12"/>
    <p:sldId id="272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34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2BB68-2D5A-EB01-882A-A174E099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71096-5E19-BE05-BE81-F1F2040D5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6ED16-18C3-7FAA-4AE7-208CD1C39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2A542-C54C-6B7D-911B-DAA12BDC95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40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36C0C-A95A-8B84-9627-90937E6C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C888E-1E72-AD61-9227-62A548CF8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90BB9-BE38-694E-CB3D-0E0BCE542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1636A-CED3-BA5A-7FBF-FB5E89925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29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D603E-F87A-C33F-5442-EB7235250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D7F79-20A7-B89E-D6B7-9C38B7FFE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A8E6E-1F32-D24D-2862-EA727C42A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6B1D5-D4CE-C93A-E55E-6A83FD235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48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864394"/>
            <a:ext cx="5143500" cy="3346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1600"/>
              </a:lnSpc>
              <a:buNone/>
            </a:pPr>
            <a:r>
              <a:rPr lang="en-US" sz="6600" b="1" kern="0" spc="-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PV System Design for a Workshop Building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5943600" y="459789"/>
            <a:ext cx="22860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COURSE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943600" y="699414"/>
            <a:ext cx="2286000" cy="38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MENG442 — Solar Energy Engineering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0" y="1067990"/>
            <a:ext cx="22860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STUDENTS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43600" y="1387261"/>
            <a:ext cx="2286000" cy="38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Tariq Tarik
Daniel Adebayo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780662"/>
            <a:ext cx="22860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INSTITUTION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943600" y="2099146"/>
            <a:ext cx="2384820" cy="189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Eastern Mediterranean University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2273783"/>
            <a:ext cx="22860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TERM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943600" y="2537761"/>
            <a:ext cx="1131720" cy="190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4F7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2025–2026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2925" y="4250531"/>
            <a:ext cx="80581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8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Mechanical Engineering · Project Presentation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49270" y="4636294"/>
            <a:ext cx="15180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" y="-295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314325"/>
            <a:ext cx="81724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2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85761" y="443057"/>
            <a:ext cx="8172450" cy="74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64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Design a rooftop PV system that can satisfy the workshop’s annual electricity demand.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85775" y="1350225"/>
            <a:ext cx="385762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Engineering objective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85775" y="1740117"/>
            <a:ext cx="38576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models a three-story workshop building in DesignBuilder, estimates its annual electrical load, sizes a photovoltaic array, and checks whether the selected inverter can safely support the final PV configuration.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800600" y="1350225"/>
            <a:ext cx="385762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Solar context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800600" y="1740117"/>
            <a:ext cx="3857625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Famagusta, North Cyprus offers favorable conditions for solar integration because of strong solar availability and extended sunshine duration. Local weather data was therefore used to represent realistic annual performance.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5775" y="3461761"/>
            <a:ext cx="759823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150,000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5775" y="3776086"/>
            <a:ext cx="2052613" cy="190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B8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kWh/year project demand target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95641" y="3461761"/>
            <a:ext cx="255269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295641" y="3776086"/>
            <a:ext cx="2552691" cy="38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B8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levels: basement, ground floor, first floor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05506" y="3461761"/>
            <a:ext cx="255271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800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19°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105506" y="3776086"/>
            <a:ext cx="2403158" cy="190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B8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orientation west of true north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84989" y="4664869"/>
            <a:ext cx="17323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0038"/>
            <a:ext cx="82296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BUILDING MODEL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57200" y="498277"/>
            <a:ext cx="8229600" cy="758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DesignBuilder model captures the workshop geometry and operating zones.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89744" y="1522406"/>
            <a:ext cx="1582997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Model workflow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89744" y="1799405"/>
            <a:ext cx="3071813" cy="39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AutoCAD drawings were converted to DXF and imported into DesignBuilder</a:t>
            </a:r>
            <a:r>
              <a:rPr lang="en-US" sz="9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5742" y="2294751"/>
            <a:ext cx="1066189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Zone count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39341" y="2556609"/>
            <a:ext cx="3071813" cy="396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basement zones, 14 ground-floor zones, and 14 first-floor zones.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494" y="1416836"/>
            <a:ext cx="4572000" cy="30718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11778" y="4679156"/>
            <a:ext cx="17502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EE2E-5D74-6A9E-656F-ECF6DFB9F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B99ED08-A353-EFDD-DD14-42A70E74B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363C6E9-0A00-D168-2008-DABF900EAAFC}"/>
              </a:ext>
            </a:extLst>
          </p:cNvPr>
          <p:cNvSpPr/>
          <p:nvPr/>
        </p:nvSpPr>
        <p:spPr>
          <a:xfrm>
            <a:off x="457200" y="300038"/>
            <a:ext cx="8229600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</a:rPr>
              <a:t>LOCATION TEMPLATE</a:t>
            </a:r>
            <a:endParaRPr lang="en-US" sz="7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3800F06-AE03-278F-83C5-04AB9E7089B8}"/>
              </a:ext>
            </a:extLst>
          </p:cNvPr>
          <p:cNvSpPr/>
          <p:nvPr/>
        </p:nvSpPr>
        <p:spPr>
          <a:xfrm>
            <a:off x="457200" y="498277"/>
            <a:ext cx="8229600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</a:rPr>
              <a:t>Famagusta location details on DB</a:t>
            </a:r>
            <a:endParaRPr lang="en-US" sz="28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F7C4FFD8-034D-0627-F305-5D26642FF235}"/>
              </a:ext>
            </a:extLst>
          </p:cNvPr>
          <p:cNvSpPr/>
          <p:nvPr/>
        </p:nvSpPr>
        <p:spPr>
          <a:xfrm>
            <a:off x="8511778" y="4679156"/>
            <a:ext cx="12529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04</a:t>
            </a:r>
            <a:endParaRPr lang="en-US" sz="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6E858-8C16-50B5-2B0E-2EF785768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" y="1248596"/>
            <a:ext cx="8928100" cy="28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68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2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SIMULATION PARAMETERS (1/2)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71500" y="589359"/>
            <a:ext cx="7491859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2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Building Activity and Construction Materials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71500" y="1753728"/>
            <a:ext cx="371475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37B6A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Construction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1500" y="2093432"/>
            <a:ext cx="3714750" cy="65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Reinforced concrete frame (0.25m) and brickwork outer walls (0.1m) provide the necessary thermal mass for accurate energy simulation.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14875" y="1276583"/>
            <a:ext cx="3857625" cy="2714625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714875" y="1276583"/>
            <a:ext cx="42863" cy="2714625"/>
          </a:xfrm>
          <a:prstGeom prst="rect">
            <a:avLst/>
          </a:prstGeom>
          <a:solidFill>
            <a:srgbClr val="F6B1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257906"/>
            <a:ext cx="4010026" cy="27519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76047" y="4604147"/>
            <a:ext cx="13811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2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SIMULATION PARAMETERS (2/2)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71500" y="821037"/>
            <a:ext cx="1737720" cy="379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</a:rPr>
              <a:t>Activity Tab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57213" y="1295474"/>
            <a:ext cx="371475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37B6A8"/>
                </a:solidFill>
                <a:latin typeface="Space Grotesk Bold" pitchFamily="34" charset="0"/>
                <a:ea typeface="Space Grotesk Bold" pitchFamily="34" charset="-122"/>
              </a:rPr>
              <a:t>Activity template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448518" y="1330547"/>
            <a:ext cx="1694857" cy="206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</a:rPr>
              <a:t>– Workshop – small scale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1572473"/>
            <a:ext cx="371475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37B6A8"/>
                </a:solidFill>
                <a:latin typeface="Space Grotesk Bold" pitchFamily="34" charset="0"/>
                <a:ea typeface="Space Grotesk Bold" pitchFamily="34" charset="-122"/>
              </a:rPr>
              <a:t>Computers &amp; office equipment 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57213" y="1862706"/>
            <a:ext cx="4000500" cy="104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150" dirty="0">
                <a:solidFill>
                  <a:srgbClr val="DDE7F0"/>
                </a:solidFill>
                <a:latin typeface="Inter" pitchFamily="34" charset="0"/>
                <a:ea typeface="Inter" pitchFamily="34" charset="-122"/>
              </a:rPr>
              <a:t>Power density of the office equipment was 5w/m</a:t>
            </a:r>
            <a:r>
              <a:rPr lang="en-US" sz="1150" baseline="300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</a:rPr>
              <a:t>2</a:t>
            </a:r>
            <a:r>
              <a:rPr lang="en-US" sz="1150" dirty="0">
                <a:solidFill>
                  <a:srgbClr val="DDE7F0"/>
                </a:solidFill>
                <a:latin typeface="Inter" pitchFamily="34" charset="0"/>
                <a:ea typeface="Inter" pitchFamily="34" charset="-122"/>
              </a:rPr>
              <a:t> and computers power density was selected as 3w/m</a:t>
            </a:r>
            <a:r>
              <a:rPr lang="en-US" sz="1150" baseline="300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</a:rPr>
              <a:t>2</a:t>
            </a:r>
            <a:r>
              <a:rPr lang="en-US" sz="1150" dirty="0">
                <a:solidFill>
                  <a:srgbClr val="DDE7F0"/>
                </a:solidFill>
                <a:latin typeface="Inter" pitchFamily="34" charset="0"/>
                <a:ea typeface="Inter" pitchFamily="34" charset="-122"/>
              </a:rPr>
              <a:t> . Some assumptions were made, that office computers are of 100W rated power and the area of each computer occupies was assumed </a:t>
            </a:r>
            <a:endParaRPr lang="en-US" sz="1150" baseline="30000" dirty="0">
              <a:solidFill>
                <a:srgbClr val="DDE7F0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14875" y="1276583"/>
            <a:ext cx="42863" cy="2714625"/>
          </a:xfrm>
          <a:prstGeom prst="rect">
            <a:avLst/>
          </a:prstGeom>
          <a:solidFill>
            <a:srgbClr val="37B6A8"/>
          </a:solidFill>
          <a:ln/>
        </p:spPr>
      </p:sp>
      <p:sp>
        <p:nvSpPr>
          <p:cNvPr id="13" name="Text 9"/>
          <p:cNvSpPr/>
          <p:nvPr/>
        </p:nvSpPr>
        <p:spPr>
          <a:xfrm>
            <a:off x="8379619" y="4604147"/>
            <a:ext cx="13811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06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E0387C-F4DC-5D5D-6F2C-C8ACD256E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76" y="246678"/>
            <a:ext cx="3743324" cy="42758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44184-E6E2-DC07-A13D-E07607C7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358E4AF-078B-DBC9-D16C-22C0EEB64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583D149-2FF8-8D01-BDEE-F1F835185093}"/>
              </a:ext>
            </a:extLst>
          </p:cNvPr>
          <p:cNvSpPr/>
          <p:nvPr/>
        </p:nvSpPr>
        <p:spPr>
          <a:xfrm>
            <a:off x="571500" y="357188"/>
            <a:ext cx="80010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2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SIMULATION PARAMETERS (2/2)</a:t>
            </a:r>
            <a:endParaRPr lang="en-US" sz="8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1089D52-76AD-312F-6D7B-1208FD1D3828}"/>
              </a:ext>
            </a:extLst>
          </p:cNvPr>
          <p:cNvSpPr/>
          <p:nvPr/>
        </p:nvSpPr>
        <p:spPr>
          <a:xfrm>
            <a:off x="571500" y="449212"/>
            <a:ext cx="3803650" cy="8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2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Lighting and HVAC System Settings</a:t>
            </a:r>
            <a:endParaRPr lang="en-US" sz="3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1A36179-A872-BD16-B003-9B9FDF6EBDA4}"/>
              </a:ext>
            </a:extLst>
          </p:cNvPr>
          <p:cNvSpPr/>
          <p:nvPr/>
        </p:nvSpPr>
        <p:spPr>
          <a:xfrm>
            <a:off x="571500" y="1336640"/>
            <a:ext cx="371475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37B6A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HVAC Template</a:t>
            </a:r>
            <a:endParaRPr 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C5CA168-0D27-E79D-2AD5-682CC811E8AD}"/>
              </a:ext>
            </a:extLst>
          </p:cNvPr>
          <p:cNvSpPr/>
          <p:nvPr/>
        </p:nvSpPr>
        <p:spPr>
          <a:xfrm>
            <a:off x="571500" y="1591446"/>
            <a:ext cx="3714750" cy="206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</a:rPr>
              <a:t>Split no fresh air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1370C6D-94F8-280C-6DB8-C76A6FF363FD}"/>
              </a:ext>
            </a:extLst>
          </p:cNvPr>
          <p:cNvSpPr/>
          <p:nvPr/>
        </p:nvSpPr>
        <p:spPr>
          <a:xfrm>
            <a:off x="571500" y="1945570"/>
            <a:ext cx="371475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37B6A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HVAC &amp; Ventilation</a:t>
            </a:r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A846A8C-A5BB-D476-6E42-6F1F0D9054A7}"/>
              </a:ext>
            </a:extLst>
          </p:cNvPr>
          <p:cNvSpPr/>
          <p:nvPr/>
        </p:nvSpPr>
        <p:spPr>
          <a:xfrm>
            <a:off x="571500" y="2179666"/>
            <a:ext cx="3714750" cy="65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system (no fresh air) with mechanical ventilation. Heating and cooling schedules are set to maintain 15°C to 30°C range.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B7F6242-DEEF-19F5-EAE4-2ACC09E545B3}"/>
              </a:ext>
            </a:extLst>
          </p:cNvPr>
          <p:cNvSpPr/>
          <p:nvPr/>
        </p:nvSpPr>
        <p:spPr>
          <a:xfrm>
            <a:off x="4714875" y="1276583"/>
            <a:ext cx="42863" cy="2714625"/>
          </a:xfrm>
          <a:prstGeom prst="rect">
            <a:avLst/>
          </a:prstGeom>
          <a:solidFill>
            <a:srgbClr val="37B6A8"/>
          </a:solidFill>
          <a:ln/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2C1EB94-6B1A-9634-103E-03AB1684E899}"/>
              </a:ext>
            </a:extLst>
          </p:cNvPr>
          <p:cNvSpPr/>
          <p:nvPr/>
        </p:nvSpPr>
        <p:spPr>
          <a:xfrm>
            <a:off x="8379619" y="4604147"/>
            <a:ext cx="13811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07</a:t>
            </a:r>
            <a:endParaRPr lang="en-US" sz="10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325F17-A40E-7CB5-A4AE-A798C860E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120519"/>
            <a:ext cx="4087670" cy="448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92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2" y="207113"/>
            <a:ext cx="82867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BASELINE ENERGY DEMAND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28625" y="299922"/>
            <a:ext cx="7606422" cy="758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DesignBuilder simulation confirms building meets the project target.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28625" y="1036904"/>
            <a:ext cx="3429000" cy="1069777"/>
          </a:xfrm>
          <a:prstGeom prst="rect">
            <a:avLst/>
          </a:prstGeom>
          <a:solidFill>
            <a:srgbClr val="37B6A8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036904"/>
            <a:ext cx="28575" cy="1069777"/>
          </a:xfrm>
          <a:prstGeom prst="rect">
            <a:avLst/>
          </a:prstGeom>
          <a:solidFill>
            <a:srgbClr val="F6B13D"/>
          </a:solidFill>
          <a:ln/>
        </p:spPr>
      </p:sp>
      <p:sp>
        <p:nvSpPr>
          <p:cNvPr id="7" name="Text 4"/>
          <p:cNvSpPr/>
          <p:nvPr/>
        </p:nvSpPr>
        <p:spPr>
          <a:xfrm>
            <a:off x="642938" y="1251217"/>
            <a:ext cx="30003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ANNUAL ELECTRICITY CONSUMPTION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42938" y="1454814"/>
            <a:ext cx="3000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F4F7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150,115</a:t>
            </a:r>
            <a:r>
              <a:rPr lang="en-US" sz="1050" dirty="0">
                <a:solidFill>
                  <a:srgbClr val="B8C7D9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kWh/year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28625" y="2320993"/>
            <a:ext cx="3429000" cy="642099"/>
          </a:xfrm>
          <a:prstGeom prst="rect">
            <a:avLst/>
          </a:prstGeom>
          <a:noFill/>
          <a:ln/>
        </p:spPr>
        <p:txBody>
          <a:bodyPr wrap="square" lIns="0" tIns="119126" rIns="0" bIns="119126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6B1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 Alignment:</a:t>
            </a: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result is within 0.1% of the 150,000-kWh project target.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8625" y="2888196"/>
            <a:ext cx="3429000" cy="848950"/>
          </a:xfrm>
          <a:prstGeom prst="rect">
            <a:avLst/>
          </a:prstGeom>
          <a:noFill/>
          <a:ln/>
        </p:spPr>
        <p:txBody>
          <a:bodyPr wrap="square" lIns="0" tIns="119126" rIns="0" bIns="119126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6B1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Seasonal Variation:</a:t>
            </a: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Cooling demand peaks in August; heating demand dominates from October to April.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8625" y="3455398"/>
            <a:ext cx="3429000" cy="850105"/>
          </a:xfrm>
          <a:prstGeom prst="rect">
            <a:avLst/>
          </a:prstGeom>
          <a:noFill/>
          <a:ln/>
        </p:spPr>
        <p:txBody>
          <a:bodyPr wrap="square" lIns="0" tIns="119126" rIns="0" bIns="119126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6B1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Load:</a:t>
            </a: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Lighting and equipment power remain consistent throughout the operating year.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86250" y="1036904"/>
            <a:ext cx="4429125" cy="2714625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0" y="1036904"/>
            <a:ext cx="4429125" cy="21431"/>
          </a:xfrm>
          <a:prstGeom prst="rect">
            <a:avLst/>
          </a:prstGeom>
          <a:solidFill>
            <a:srgbClr val="37B6A8"/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0" y="3730098"/>
            <a:ext cx="4429125" cy="21431"/>
          </a:xfrm>
          <a:prstGeom prst="rect">
            <a:avLst/>
          </a:prstGeom>
          <a:solidFill>
            <a:srgbClr val="F6B13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406" y="1144060"/>
            <a:ext cx="4214813" cy="250031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542139" y="4693444"/>
            <a:ext cx="12529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051" y="465773"/>
            <a:ext cx="7626350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</a:rPr>
              <a:t>Module selection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28625" y="1121736"/>
            <a:ext cx="1253356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MANUFACTURER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51503" y="1115057"/>
            <a:ext cx="62824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just">
              <a:buNone/>
            </a:pPr>
            <a:r>
              <a:rPr lang="en-US" sz="1200" dirty="0">
                <a:solidFill>
                  <a:srgbClr val="F4F7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JinkoSolar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5" y="1502141"/>
            <a:ext cx="55143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480962" y="1500980"/>
            <a:ext cx="137666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4F7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TigerNeo 66HL5-BDV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1882546"/>
            <a:ext cx="113742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RATED OUTPUT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61084" y="1869151"/>
            <a:ext cx="915892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just">
              <a:buNone/>
            </a:pPr>
            <a:r>
              <a:rPr lang="en-US" sz="1200" dirty="0">
                <a:solidFill>
                  <a:srgbClr val="F4F7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735 W (at STC)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8625" y="2262950"/>
            <a:ext cx="70692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91182" y="2227588"/>
            <a:ext cx="463268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4F7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23.66%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8625" y="2643355"/>
            <a:ext cx="73808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CELL TYPE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69618" y="2566310"/>
            <a:ext cx="170378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4F7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N-type Mono-crystalline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8625" y="3023760"/>
            <a:ext cx="597921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WEIGHT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29939" y="3023760"/>
            <a:ext cx="44871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F4F7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37.5 kg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8625" y="3505070"/>
            <a:ext cx="3571875" cy="780064"/>
          </a:xfrm>
          <a:prstGeom prst="rect">
            <a:avLst/>
          </a:prstGeom>
          <a:solidFill>
            <a:srgbClr val="F6B13D">
              <a:alpha val="8000"/>
            </a:srgbClr>
          </a:solidFill>
          <a:ln w="9144">
            <a:solidFill>
              <a:srgbClr val="F6B1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" y="3647945"/>
            <a:ext cx="32861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selected module features bifacial technology with dual glass, providing superior durability and performance in the high-irradiance Mediterranean environment of Famagusta.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429125" y="1008329"/>
            <a:ext cx="4286250" cy="1669852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0" name="Shape 17"/>
          <p:cNvSpPr/>
          <p:nvPr/>
        </p:nvSpPr>
        <p:spPr>
          <a:xfrm>
            <a:off x="4429125" y="1008329"/>
            <a:ext cx="28575" cy="1669852"/>
          </a:xfrm>
          <a:prstGeom prst="rect">
            <a:avLst/>
          </a:prstGeom>
          <a:solidFill>
            <a:srgbClr val="F6B13D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3" y="1079767"/>
            <a:ext cx="4143375" cy="150018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429125" y="2821056"/>
            <a:ext cx="4286250" cy="1669852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3" name="Shape 19"/>
          <p:cNvSpPr/>
          <p:nvPr/>
        </p:nvSpPr>
        <p:spPr>
          <a:xfrm>
            <a:off x="4429125" y="2821056"/>
            <a:ext cx="28575" cy="1669852"/>
          </a:xfrm>
          <a:prstGeom prst="rect">
            <a:avLst/>
          </a:prstGeom>
          <a:solidFill>
            <a:srgbClr val="F6B13D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563" y="2892493"/>
            <a:ext cx="4143375" cy="15001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40353" y="4693444"/>
            <a:ext cx="12529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00" y="1836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kern="0" spc="2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MODELING METHODOLOGY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28625" y="469702"/>
            <a:ext cx="7622536" cy="379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DesignBuilder: Equivalent One-Diode Configuration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28625" y="1215498"/>
            <a:ext cx="34290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37B6A8"/>
                </a:solidFill>
                <a:latin typeface="Inter Bold"/>
                <a:ea typeface="Inter Bold"/>
                <a:cs typeface="Space Grotesk Bold" pitchFamily="34" charset="-120"/>
              </a:rPr>
              <a:t>Simulation Strategy</a:t>
            </a:r>
            <a:endParaRPr lang="en-US" dirty="0">
              <a:latin typeface="Inter Bold"/>
              <a:ea typeface="Inter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428625" y="1505554"/>
            <a:ext cx="3429000" cy="842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/>
                <a:cs typeface="Inter" pitchFamily="34" charset="-120"/>
              </a:rPr>
              <a:t>The </a:t>
            </a:r>
            <a:r>
              <a:rPr lang="en-US" sz="1200" dirty="0">
                <a:solidFill>
                  <a:srgbClr val="DDE7F0"/>
                </a:solidFill>
                <a:latin typeface="Inter Bold" pitchFamily="34" charset="0"/>
                <a:ea typeface="Inter"/>
                <a:cs typeface="Inter Bold" pitchFamily="34" charset="-120"/>
              </a:rPr>
              <a:t>Equivalent One-Diode</a:t>
            </a: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/>
                <a:cs typeface="Inter" pitchFamily="34" charset="-120"/>
              </a:rPr>
              <a:t> model was chosen for its high accuracy in simulating N-type bifacial modules under real-world Cyprus weather conditions.</a:t>
            </a:r>
            <a:endParaRPr lang="en-US" sz="1200" dirty="0">
              <a:ea typeface="Inter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8625" y="2397684"/>
            <a:ext cx="3429000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37B6A8"/>
                </a:solidFill>
                <a:latin typeface="Inter Bold"/>
                <a:ea typeface="Inter Bold"/>
              </a:rPr>
              <a:t>Active area </a:t>
            </a:r>
            <a:endParaRPr lang="en-US" dirty="0">
              <a:latin typeface="Inter Bold"/>
              <a:ea typeface="Inter Bold"/>
            </a:endParaRPr>
          </a:p>
        </p:txBody>
      </p:sp>
      <p:sp>
        <p:nvSpPr>
          <p:cNvPr id="8" name="Text 5"/>
          <p:cNvSpPr/>
          <p:nvPr/>
        </p:nvSpPr>
        <p:spPr>
          <a:xfrm>
            <a:off x="428625" y="2674683"/>
            <a:ext cx="3429000" cy="41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</a:rPr>
              <a:t>Active area was assumed to be 90% of the area of a single panel.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8625" y="3696388"/>
            <a:ext cx="28575" cy="1428750"/>
          </a:xfrm>
          <a:prstGeom prst="rect">
            <a:avLst/>
          </a:prstGeom>
          <a:solidFill>
            <a:srgbClr val="F6B13D"/>
          </a:solidFill>
          <a:ln/>
        </p:spPr>
      </p:sp>
      <p:sp>
        <p:nvSpPr>
          <p:cNvPr id="12" name="Shape 8"/>
          <p:cNvSpPr/>
          <p:nvPr/>
        </p:nvSpPr>
        <p:spPr>
          <a:xfrm>
            <a:off x="4143375" y="908317"/>
            <a:ext cx="4949826" cy="2782491"/>
          </a:xfrm>
          <a:prstGeom prst="rect">
            <a:avLst/>
          </a:prstGeom>
          <a:solidFill>
            <a:srgbClr val="37B6A8">
              <a:alpha val="5000"/>
            </a:srgbClr>
          </a:solidFill>
          <a:ln w="9144">
            <a:solidFill>
              <a:srgbClr val="37B6A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250531" y="965467"/>
            <a:ext cx="173964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PERFORMANCE TYPE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634883" y="965467"/>
            <a:ext cx="184437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Equivalent One-Diode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250530" y="1242287"/>
            <a:ext cx="268367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RATED ELECTRIC POWER (PMAX)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483600" y="1242287"/>
            <a:ext cx="46321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735 W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50530" y="1519107"/>
            <a:ext cx="228361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CELLS IN SERIES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847552" y="1531567"/>
            <a:ext cx="110750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132 (66×2)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250530" y="1795928"/>
            <a:ext cx="268367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ACTIVE AREA (PER MODULE)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405051" y="1795928"/>
            <a:ext cx="56013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2.8 m²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250530" y="2072748"/>
            <a:ext cx="254396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SHORT CIRCUIT CURRENT (ISC)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340931" y="2072748"/>
            <a:ext cx="62425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18.88 A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250530" y="2349568"/>
            <a:ext cx="259477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OPEN CIRCUIT VOLTAGE (VOC)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411464" y="2349568"/>
            <a:ext cx="54463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49.52 V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250530" y="2626389"/>
            <a:ext cx="268366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CURRENT AT MAX POWER (IMPP)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409862" y="2626389"/>
            <a:ext cx="54644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17.87 A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250530" y="2903209"/>
            <a:ext cx="275986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VOLTAGE AT MAX POWER (VMPP)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411463" y="2903209"/>
            <a:ext cx="54463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41.13 V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250530" y="3180029"/>
            <a:ext cx="173964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TEMP. COEFF. OF ISC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8113306" y="3180029"/>
            <a:ext cx="8811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+0.046 %/°C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250531" y="3456849"/>
            <a:ext cx="209946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7B6A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TEMP. COEFF. OF VOC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222310" y="3456849"/>
            <a:ext cx="75814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6B13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-0.25 %/°C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8540353" y="4693444"/>
            <a:ext cx="12529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10</a:t>
            </a:r>
            <a:endParaRPr lang="en-US" sz="9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9F1CD0A-E12C-495B-6858-AB3B6738FC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37" t="7678" r="3311"/>
          <a:stretch>
            <a:fillRect/>
          </a:stretch>
        </p:blipFill>
        <p:spPr>
          <a:xfrm>
            <a:off x="457200" y="3714734"/>
            <a:ext cx="2482850" cy="13920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28625" y="483989"/>
            <a:ext cx="3277564" cy="379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Panel modeling on DB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6497" y="987903"/>
            <a:ext cx="3121819" cy="41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</a:rPr>
              <a:t>The system was configured as a single string of 15 in series and modelled accordingly on DB.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2931" y="1990204"/>
            <a:ext cx="3121819" cy="1384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</a:rPr>
              <a:t>Area of one panel = 2.384 x 1.303 = 3.11 m</a:t>
            </a:r>
            <a:r>
              <a:rPr lang="en-US" baseline="30000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</a:rPr>
              <a:t>2 </a:t>
            </a:r>
            <a:endParaRPr lang="en-US" dirty="0">
              <a:solidFill>
                <a:srgbClr val="F6B13D"/>
              </a:solidFill>
              <a:latin typeface="Space Grotesk Medium" pitchFamily="34" charset="0"/>
              <a:ea typeface="Space Grotesk Medium" pitchFamily="34" charset="-122"/>
            </a:endParaRPr>
          </a:p>
          <a:p>
            <a:pPr marL="0" indent="0" algn="l">
              <a:buNone/>
            </a:pPr>
            <a:endParaRPr lang="en-US" dirty="0">
              <a:solidFill>
                <a:srgbClr val="F6B13D"/>
              </a:solidFill>
              <a:latin typeface="Space Grotesk Medium" pitchFamily="34" charset="0"/>
              <a:ea typeface="Space Grotesk Medium" pitchFamily="34" charset="-122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</a:rPr>
              <a:t>Area of 15 panels = 3.11 x 15 = 46.6 m</a:t>
            </a:r>
            <a:r>
              <a:rPr lang="en-US" baseline="30000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</a:rPr>
              <a:t>2 </a:t>
            </a:r>
            <a:r>
              <a:rPr lang="en-US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</a:rPr>
              <a:t> 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2931" y="2215232"/>
            <a:ext cx="3121819" cy="151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0075" y="3434637"/>
            <a:ext cx="294322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000500" y="1036904"/>
            <a:ext cx="4714875" cy="3000375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000500" y="1036904"/>
            <a:ext cx="4714875" cy="21431"/>
          </a:xfrm>
          <a:prstGeom prst="rect">
            <a:avLst/>
          </a:prstGeom>
          <a:solidFill>
            <a:srgbClr val="F6B13D"/>
          </a:solidFill>
          <a:ln/>
        </p:spPr>
      </p:sp>
      <p:sp>
        <p:nvSpPr>
          <p:cNvPr id="14" name="Shape 11"/>
          <p:cNvSpPr/>
          <p:nvPr/>
        </p:nvSpPr>
        <p:spPr>
          <a:xfrm>
            <a:off x="4000500" y="4015848"/>
            <a:ext cx="4714875" cy="21431"/>
          </a:xfrm>
          <a:prstGeom prst="rect">
            <a:avLst/>
          </a:prstGeom>
          <a:solidFill>
            <a:srgbClr val="37B6A8"/>
          </a:solidFill>
          <a:ln/>
        </p:spPr>
      </p:sp>
      <p:sp>
        <p:nvSpPr>
          <p:cNvPr id="16" name="Text 12"/>
          <p:cNvSpPr/>
          <p:nvPr/>
        </p:nvSpPr>
        <p:spPr>
          <a:xfrm>
            <a:off x="8540353" y="4693444"/>
            <a:ext cx="12529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</a:rPr>
              <a:t>11</a:t>
            </a:r>
            <a:endParaRPr lang="en-US" sz="9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ECEDFD1-81A1-C431-80CD-D1951B57A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77" y="3379050"/>
            <a:ext cx="2632346" cy="15701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39D86F-6B4F-63C2-DFC1-6E33737ECB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6926"/>
          <a:stretch>
            <a:fillRect/>
          </a:stretch>
        </p:blipFill>
        <p:spPr>
          <a:xfrm>
            <a:off x="4000500" y="1179795"/>
            <a:ext cx="4658434" cy="25790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2BD28-3586-9639-3B03-84581C0FA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19A3752-35DC-47BC-7680-ED8AFBCF3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98DF3ED-F70B-C762-87A4-94BEB5D73205}"/>
              </a:ext>
            </a:extLst>
          </p:cNvPr>
          <p:cNvSpPr/>
          <p:nvPr/>
        </p:nvSpPr>
        <p:spPr>
          <a:xfrm>
            <a:off x="428625" y="253948"/>
            <a:ext cx="8715375" cy="758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Iterative simulation identifies the optimum tilt angle for Famagusta.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D43E61A-60D3-C53C-7102-4759ED385ADB}"/>
              </a:ext>
            </a:extLst>
          </p:cNvPr>
          <p:cNvSpPr/>
          <p:nvPr/>
        </p:nvSpPr>
        <p:spPr>
          <a:xfrm>
            <a:off x="592931" y="1036904"/>
            <a:ext cx="3121819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Methodology</a:t>
            </a:r>
            <a:endParaRPr 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1955C7A-136C-89C7-B614-A46294AB60A8}"/>
              </a:ext>
            </a:extLst>
          </p:cNvPr>
          <p:cNvSpPr/>
          <p:nvPr/>
        </p:nvSpPr>
        <p:spPr>
          <a:xfrm>
            <a:off x="592930" y="1284484"/>
            <a:ext cx="3121819" cy="62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simulations were performed using a single string of 15 panels to evaluate performance across a range of tilt angles.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FCCEFFA-24AC-6A26-02DC-0C467E5ED9D5}"/>
              </a:ext>
            </a:extLst>
          </p:cNvPr>
          <p:cNvSpPr/>
          <p:nvPr/>
        </p:nvSpPr>
        <p:spPr>
          <a:xfrm>
            <a:off x="592931" y="1990204"/>
            <a:ext cx="3121819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Comparison</a:t>
            </a:r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3D089AD-6FD4-6BA9-DD10-F5507AB647E9}"/>
              </a:ext>
            </a:extLst>
          </p:cNvPr>
          <p:cNvSpPr/>
          <p:nvPr/>
        </p:nvSpPr>
        <p:spPr>
          <a:xfrm>
            <a:off x="592931" y="2215232"/>
            <a:ext cx="3121819" cy="62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Tilt angles from 30° to 37° were tested, with performance decreasing as the angle deviated from the peak.</a:t>
            </a:r>
            <a:endParaRPr lang="en-US" sz="12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FB3F065-8D9C-FB0C-5858-9B6CE5E67CCE}"/>
              </a:ext>
            </a:extLst>
          </p:cNvPr>
          <p:cNvSpPr/>
          <p:nvPr/>
        </p:nvSpPr>
        <p:spPr>
          <a:xfrm>
            <a:off x="428625" y="2943504"/>
            <a:ext cx="3286125" cy="805458"/>
          </a:xfrm>
          <a:prstGeom prst="rect">
            <a:avLst/>
          </a:prstGeom>
          <a:solidFill>
            <a:srgbClr val="37B6A8">
              <a:alpha val="10000"/>
            </a:srgbClr>
          </a:solidFill>
          <a:ln w="9144">
            <a:solidFill>
              <a:srgbClr val="37B6A8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7A34C59-ECBA-323F-61DC-430F1DF8EDFD}"/>
              </a:ext>
            </a:extLst>
          </p:cNvPr>
          <p:cNvSpPr/>
          <p:nvPr/>
        </p:nvSpPr>
        <p:spPr>
          <a:xfrm>
            <a:off x="600075" y="3114954"/>
            <a:ext cx="294322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4F7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31° Tilt</a:t>
            </a:r>
            <a:endParaRPr lang="en-US" sz="2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EF9FE0B-5E85-A0B8-D2BD-629DA790F624}"/>
              </a:ext>
            </a:extLst>
          </p:cNvPr>
          <p:cNvSpPr/>
          <p:nvPr/>
        </p:nvSpPr>
        <p:spPr>
          <a:xfrm>
            <a:off x="600075" y="3434637"/>
            <a:ext cx="29432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Optimum angle yielding 21,226.6 kWh/year per string</a:t>
            </a:r>
            <a:endParaRPr lang="en-US" sz="10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E4BDEDA-168B-C7CE-838A-B57E36EAC8F7}"/>
              </a:ext>
            </a:extLst>
          </p:cNvPr>
          <p:cNvSpPr/>
          <p:nvPr/>
        </p:nvSpPr>
        <p:spPr>
          <a:xfrm>
            <a:off x="4000500" y="1036904"/>
            <a:ext cx="4714875" cy="3000375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8A88805-756C-0ABF-FADA-242EE0131E38}"/>
              </a:ext>
            </a:extLst>
          </p:cNvPr>
          <p:cNvSpPr/>
          <p:nvPr/>
        </p:nvSpPr>
        <p:spPr>
          <a:xfrm>
            <a:off x="4000500" y="1036904"/>
            <a:ext cx="4714875" cy="21431"/>
          </a:xfrm>
          <a:prstGeom prst="rect">
            <a:avLst/>
          </a:prstGeom>
          <a:solidFill>
            <a:srgbClr val="F6B13D"/>
          </a:solidFill>
          <a:ln/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DC06376-8667-BAD3-B01B-6954EB34959C}"/>
              </a:ext>
            </a:extLst>
          </p:cNvPr>
          <p:cNvSpPr/>
          <p:nvPr/>
        </p:nvSpPr>
        <p:spPr>
          <a:xfrm>
            <a:off x="4000500" y="4015848"/>
            <a:ext cx="4714875" cy="21431"/>
          </a:xfrm>
          <a:prstGeom prst="rect">
            <a:avLst/>
          </a:prstGeom>
          <a:solidFill>
            <a:srgbClr val="37B6A8"/>
          </a:solidFill>
          <a:ln/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373CC519-85B4-9DF0-E639-35A862C6BDF3}"/>
              </a:ext>
            </a:extLst>
          </p:cNvPr>
          <p:cNvSpPr/>
          <p:nvPr/>
        </p:nvSpPr>
        <p:spPr>
          <a:xfrm>
            <a:off x="8540353" y="4693444"/>
            <a:ext cx="12529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</a:rPr>
              <a:t>12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142A16-5E34-F2A1-5636-C24863146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984" y="1197435"/>
            <a:ext cx="4583906" cy="276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09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8625" y="224326"/>
            <a:ext cx="8436515" cy="758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Iterative sizing ensures the PV array meets the building demand.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00074" y="942676"/>
            <a:ext cx="311467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Case 1: Seven Strings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0075" y="1207065"/>
            <a:ext cx="3114675" cy="608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parallel strings generated </a:t>
            </a:r>
            <a:r>
              <a:rPr lang="en-US" sz="1200" b="1" dirty="0">
                <a:solidFill>
                  <a:srgbClr val="F6B1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135,673 kWh/year</a:t>
            </a: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failing to satisfy the workshop's electrical needs.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0075" y="1850566"/>
            <a:ext cx="311467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Case 2: Eight Strings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0075" y="2140330"/>
            <a:ext cx="3114675" cy="608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parallel strings generated </a:t>
            </a:r>
            <a:r>
              <a:rPr lang="en-US" sz="1200" b="1" dirty="0">
                <a:solidFill>
                  <a:srgbClr val="F6B13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154,226 kWh/year</a:t>
            </a: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providing a safe margin over the building demand.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625" y="3369840"/>
            <a:ext cx="3286125" cy="905470"/>
          </a:xfrm>
          <a:prstGeom prst="rect">
            <a:avLst/>
          </a:prstGeom>
          <a:solidFill>
            <a:srgbClr val="37B6A8">
              <a:alpha val="10000"/>
            </a:srgbClr>
          </a:solidFill>
          <a:ln w="9144">
            <a:solidFill>
              <a:srgbClr val="37B6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0075" y="3541290"/>
            <a:ext cx="2943225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4F7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120 Panels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600075" y="3905978"/>
            <a:ext cx="294322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Array Configuration (15 in series × 8 in parallel)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00500" y="1036904"/>
            <a:ext cx="4714875" cy="14288"/>
          </a:xfrm>
          <a:prstGeom prst="rect">
            <a:avLst/>
          </a:prstGeom>
          <a:solidFill>
            <a:srgbClr val="F6B13D"/>
          </a:solidFill>
          <a:ln/>
        </p:spPr>
      </p:sp>
      <p:sp>
        <p:nvSpPr>
          <p:cNvPr id="16" name="Shape 12"/>
          <p:cNvSpPr/>
          <p:nvPr/>
        </p:nvSpPr>
        <p:spPr>
          <a:xfrm>
            <a:off x="4000500" y="2778193"/>
            <a:ext cx="4714875" cy="14288"/>
          </a:xfrm>
          <a:prstGeom prst="rect">
            <a:avLst/>
          </a:prstGeom>
          <a:solidFill>
            <a:srgbClr val="F6B13D"/>
          </a:solidFill>
          <a:ln/>
        </p:spPr>
      </p:sp>
      <p:sp>
        <p:nvSpPr>
          <p:cNvPr id="18" name="Text 13"/>
          <p:cNvSpPr/>
          <p:nvPr/>
        </p:nvSpPr>
        <p:spPr>
          <a:xfrm>
            <a:off x="8563570" y="4693444"/>
            <a:ext cx="12529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</a:rPr>
              <a:t>13</a:t>
            </a:r>
            <a:endParaRPr lang="en-US" sz="9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60A5E89-A7C4-5966-14D3-403077DAC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450" y="1056748"/>
            <a:ext cx="2675910" cy="253142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B37FF6B-868F-4AB6-7C82-7D065743E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0066" y="1056748"/>
            <a:ext cx="3075074" cy="25252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ELECTRICAL CONFIGURATION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28625" y="483989"/>
            <a:ext cx="6648167" cy="3792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Schematic and Technical Calculations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28625" y="1567328"/>
            <a:ext cx="300037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STRING VOLTAGE (VOC)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28625" y="1820931"/>
            <a:ext cx="3000375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4F7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15 Panels × 49.52 V = 742.8 V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8625" y="2151329"/>
            <a:ext cx="3000375" cy="42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B8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string voltage is well within the 1000V inverter limit.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8625" y="2915710"/>
            <a:ext cx="300037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ARRAY CURRENT (ISC)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28625" y="3169314"/>
            <a:ext cx="3000375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F4F7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8 Strings × 18.88 A = 151.04 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8625" y="3499712"/>
            <a:ext cx="3000375" cy="428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B8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current is distributed across the MPPT trackers.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590359" y="4693444"/>
            <a:ext cx="12529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14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54CF76-05C2-DE44-F9C3-B2FBAF640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25" y="863195"/>
            <a:ext cx="4242642" cy="41764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INVERTER COMPATIBILITY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28625" y="371612"/>
            <a:ext cx="8477254" cy="758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Huawei Smart PV Controller supports the calculated array load.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28625" y="1122629"/>
            <a:ext cx="357187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Voltage Range Check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28625" y="1412454"/>
            <a:ext cx="3571875" cy="40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Array Voc of </a:t>
            </a:r>
            <a:r>
              <a:rPr lang="en-US" sz="1200" b="1" dirty="0">
                <a:solidFill>
                  <a:srgbClr val="37B6A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742.8 V</a:t>
            </a: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well within the inverter's MPPT operating range of </a:t>
            </a:r>
            <a:r>
              <a:rPr lang="en-US" sz="1200" b="1" dirty="0">
                <a:solidFill>
                  <a:srgbClr val="37B6A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 V – 1000 V</a:t>
            </a: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5" y="1885559"/>
            <a:ext cx="357187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Current Limit Check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8625" y="2155636"/>
            <a:ext cx="3571875" cy="40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Isc per MPPT is </a:t>
            </a:r>
            <a:r>
              <a:rPr lang="en-US" sz="1200" b="1" dirty="0">
                <a:solidFill>
                  <a:srgbClr val="37B6A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37.76 A</a:t>
            </a: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 strings), staying below the inverter's </a:t>
            </a:r>
            <a:r>
              <a:rPr lang="en-US" sz="1200" b="1" dirty="0">
                <a:solidFill>
                  <a:srgbClr val="37B6A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 A</a:t>
            </a: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limit.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2648490"/>
            <a:ext cx="357187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MPPT Utilization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28625" y="2897001"/>
            <a:ext cx="3571875" cy="40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inverter provides </a:t>
            </a:r>
            <a:r>
              <a:rPr lang="en-US" sz="1200" b="1" dirty="0">
                <a:solidFill>
                  <a:srgbClr val="37B6A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 MPPTs</a:t>
            </a: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our 8-string design efficiently utilizes 4 trackers.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8625" y="3411420"/>
            <a:ext cx="357187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Efficiency Rating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8625" y="3667770"/>
            <a:ext cx="3571875" cy="40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Huawei SUN2000-100KTL-M1 offers a maximum efficiency of </a:t>
            </a:r>
            <a:r>
              <a:rPr lang="en-US" sz="1200" b="1" dirty="0">
                <a:solidFill>
                  <a:srgbClr val="37B6A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98.8%</a:t>
            </a:r>
            <a:r>
              <a:rPr lang="en-US" sz="1200" dirty="0">
                <a:solidFill>
                  <a:srgbClr val="DDE7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0" y="1008329"/>
            <a:ext cx="28575" cy="1669852"/>
          </a:xfrm>
          <a:prstGeom prst="rect">
            <a:avLst/>
          </a:prstGeom>
          <a:solidFill>
            <a:srgbClr val="37B6A8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26551" t="18" r="29617" b="-18"/>
          <a:stretch>
            <a:fillRect/>
          </a:stretch>
        </p:blipFill>
        <p:spPr>
          <a:xfrm>
            <a:off x="4876021" y="1322893"/>
            <a:ext cx="3544846" cy="292819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686800" y="2821056"/>
            <a:ext cx="28575" cy="1669852"/>
          </a:xfrm>
          <a:prstGeom prst="rect">
            <a:avLst/>
          </a:prstGeom>
          <a:solidFill>
            <a:srgbClr val="37B6A8"/>
          </a:solidFill>
          <a:ln/>
        </p:spPr>
      </p:sp>
      <p:sp>
        <p:nvSpPr>
          <p:cNvPr id="19" name="Text 14"/>
          <p:cNvSpPr/>
          <p:nvPr/>
        </p:nvSpPr>
        <p:spPr>
          <a:xfrm>
            <a:off x="8568928" y="4693444"/>
            <a:ext cx="12529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91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8626" y="483989"/>
            <a:ext cx="8332754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</a:rPr>
              <a:t>Final results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28625" y="1036904"/>
            <a:ext cx="3286125" cy="860822"/>
          </a:xfrm>
          <a:prstGeom prst="rect">
            <a:avLst/>
          </a:prstGeom>
          <a:solidFill>
            <a:srgbClr val="37B6A8">
              <a:alpha val="1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036904"/>
            <a:ext cx="28575" cy="860822"/>
          </a:xfrm>
          <a:prstGeom prst="rect">
            <a:avLst/>
          </a:prstGeom>
          <a:solidFill>
            <a:srgbClr val="F6B13D"/>
          </a:solidFill>
          <a:ln/>
        </p:spPr>
      </p:sp>
      <p:sp>
        <p:nvSpPr>
          <p:cNvPr id="7" name="Text 4"/>
          <p:cNvSpPr/>
          <p:nvPr/>
        </p:nvSpPr>
        <p:spPr>
          <a:xfrm>
            <a:off x="600075" y="1080005"/>
            <a:ext cx="294322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ANNUAL BUILDING DEMAND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0075" y="1397664"/>
            <a:ext cx="294322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4F7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150,115</a:t>
            </a:r>
            <a:r>
              <a:rPr lang="en-US" sz="950" dirty="0">
                <a:solidFill>
                  <a:srgbClr val="B8C7D9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kWh/year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28625" y="2069176"/>
            <a:ext cx="3286125" cy="860822"/>
          </a:xfrm>
          <a:prstGeom prst="rect">
            <a:avLst/>
          </a:prstGeom>
          <a:solidFill>
            <a:srgbClr val="37B6A8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2069176"/>
            <a:ext cx="28575" cy="860822"/>
          </a:xfrm>
          <a:prstGeom prst="rect">
            <a:avLst/>
          </a:prstGeom>
          <a:solidFill>
            <a:srgbClr val="F6B13D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2111056"/>
            <a:ext cx="294322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ANNUAL PV GENERATION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00075" y="2429935"/>
            <a:ext cx="2943225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F4F7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154,226</a:t>
            </a:r>
            <a:r>
              <a:rPr lang="en-US" sz="950" dirty="0">
                <a:solidFill>
                  <a:srgbClr val="B8C7D9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kWh/year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428625" y="3101448"/>
            <a:ext cx="3286125" cy="903684"/>
          </a:xfrm>
          <a:prstGeom prst="rect">
            <a:avLst/>
          </a:prstGeom>
          <a:solidFill>
            <a:srgbClr val="37B6A8">
              <a:alpha val="5000"/>
            </a:srgbClr>
          </a:solidFill>
          <a:ln w="9144">
            <a:solidFill>
              <a:srgbClr val="37B6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" y="3244323"/>
            <a:ext cx="3000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rgbClr val="F6B13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102.7%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71500" y="3710453"/>
            <a:ext cx="30003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8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Electricity Demand Coverage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000500" y="1036904"/>
            <a:ext cx="4714875" cy="14288"/>
          </a:xfrm>
          <a:prstGeom prst="rect">
            <a:avLst/>
          </a:prstGeom>
          <a:solidFill>
            <a:srgbClr val="F6B13D"/>
          </a:solidFill>
          <a:ln/>
        </p:spPr>
      </p:sp>
      <p:sp>
        <p:nvSpPr>
          <p:cNvPr id="20" name="Shape 16"/>
          <p:cNvSpPr/>
          <p:nvPr/>
        </p:nvSpPr>
        <p:spPr>
          <a:xfrm>
            <a:off x="4000500" y="2778193"/>
            <a:ext cx="4714875" cy="14288"/>
          </a:xfrm>
          <a:prstGeom prst="rect">
            <a:avLst/>
          </a:prstGeom>
          <a:solidFill>
            <a:srgbClr val="F6B13D"/>
          </a:solidFill>
          <a:ln/>
        </p:spPr>
      </p:sp>
      <p:sp>
        <p:nvSpPr>
          <p:cNvPr id="22" name="Text 17"/>
          <p:cNvSpPr/>
          <p:nvPr/>
        </p:nvSpPr>
        <p:spPr>
          <a:xfrm>
            <a:off x="8567142" y="4693444"/>
            <a:ext cx="12529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16</a:t>
            </a:r>
            <a:endParaRPr lang="en-US" sz="9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6B0B90F-74FE-C90C-A9B5-03306667A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25" y="1115542"/>
            <a:ext cx="5131126" cy="15643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53023" y="1617166"/>
            <a:ext cx="3637955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5200" b="1" kern="0" spc="-2" dirty="0">
                <a:solidFill>
                  <a:srgbClr val="F4F7F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2879824" y="2474416"/>
            <a:ext cx="3384352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kern="0" spc="3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219920" y="3487043"/>
            <a:ext cx="206633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kern="0" spc="1" dirty="0">
                <a:solidFill>
                  <a:srgbClr val="B8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2219920" y="3681710"/>
            <a:ext cx="2066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7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Tariq Tarik &amp; Daniel Adebayo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857750" y="3487043"/>
            <a:ext cx="206633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kern="0" spc="1" dirty="0">
                <a:solidFill>
                  <a:srgbClr val="B8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857750" y="3681710"/>
            <a:ext cx="2066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7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Mechanical Engineering, EMU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51056" y="4636294"/>
            <a:ext cx="125291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kern="0" spc="1" dirty="0">
                <a:solidFill>
                  <a:srgbClr val="37B6A8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965</Words>
  <Application>Microsoft Office PowerPoint</Application>
  <PresentationFormat>On-screen Show (16:9)</PresentationFormat>
  <Paragraphs>177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Inter</vt:lpstr>
      <vt:lpstr>Inter Bold</vt:lpstr>
      <vt:lpstr>Inter SemiBold</vt:lpstr>
      <vt:lpstr>Space Grotesk Bold</vt:lpstr>
      <vt:lpstr>Space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jamal tarik</cp:lastModifiedBy>
  <cp:revision>26</cp:revision>
  <dcterms:created xsi:type="dcterms:W3CDTF">2026-06-05T21:48:02Z</dcterms:created>
  <dcterms:modified xsi:type="dcterms:W3CDTF">2026-06-07T09:42:42Z</dcterms:modified>
</cp:coreProperties>
</file>